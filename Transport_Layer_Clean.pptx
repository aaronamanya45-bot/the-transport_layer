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8" r:id="rId6"/>
    <p:sldId id="269" r:id="rId7"/>
    <p:sldId id="259" r:id="rId8"/>
    <p:sldId id="260" r:id="rId9"/>
    <p:sldId id="261" r:id="rId10"/>
    <p:sldId id="262" r:id="rId11"/>
    <p:sldId id="267" r:id="rId12"/>
    <p:sldId id="263" r:id="rId13"/>
    <p:sldId id="264" r:id="rId14"/>
    <p:sldId id="265" r:id="rId15"/>
    <p:sldId id="266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A0AE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NETWORKS  ·  CSC1101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Transport Layer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 Communication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Reliable delivery  ·  Multiplexing  ·  Flow control  ·  TCP &amp; UDP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GROUP 4  ·  SEPTEMBER 2026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Amanya Aaron  ·  Arinaitwe Simon  ·  Ampumuza Esther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Kisige Damella  ·  Nakamya Rehema  ·  Winyi Joel Melvin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·  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the Transport Layer?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Transport Layer (Layer 4) sits between the Network Layer and the Application layers. It is the first layer that provides true end-to-end communication between programs running on different devices.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7FAFC"/>
          </a:solidFill>
        </p:spPr>
      </p:sp>
      <p:sp>
        <p:nvSpPr>
          <p:cNvPr id="7" name="Shape 5"/>
          <p:cNvSpPr/>
          <p:nvPr/>
        </p:nvSpPr>
        <p:spPr>
          <a:xfrm>
            <a:off x="365760" y="2286000"/>
            <a:ext cx="2651760" cy="73152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8" name="Text 6"/>
          <p:cNvSpPr/>
          <p:nvPr/>
        </p:nvSpPr>
        <p:spPr>
          <a:xfrm>
            <a:off x="502920" y="25146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Layer 4 Position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23774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Sits above Network (IP) and below Session/Application. Receives data from apps and prepares it for the network.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2860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7FAFC"/>
          </a:solidFill>
        </p:spPr>
      </p:sp>
      <p:sp>
        <p:nvSpPr>
          <p:cNvPr id="11" name="Shape 9"/>
          <p:cNvSpPr/>
          <p:nvPr/>
        </p:nvSpPr>
        <p:spPr>
          <a:xfrm>
            <a:off x="3200400" y="2286000"/>
            <a:ext cx="2651760" cy="73152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12" name="Text 10"/>
          <p:cNvSpPr/>
          <p:nvPr/>
        </p:nvSpPr>
        <p:spPr>
          <a:xfrm>
            <a:off x="3337560" y="25146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 Focus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971800"/>
            <a:ext cx="23774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Unlike lower layers that only care about the next hop, Transport cares about the final destination process.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2860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7FAFC"/>
          </a:solidFill>
        </p:spPr>
      </p:sp>
      <p:sp>
        <p:nvSpPr>
          <p:cNvPr id="15" name="Shape 13"/>
          <p:cNvSpPr/>
          <p:nvPr/>
        </p:nvSpPr>
        <p:spPr>
          <a:xfrm>
            <a:off x="6035040" y="2286000"/>
            <a:ext cx="2651760" cy="73152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16" name="Text 14"/>
          <p:cNvSpPr/>
          <p:nvPr/>
        </p:nvSpPr>
        <p:spPr>
          <a:xfrm>
            <a:off x="6172200" y="25146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 Main Protocols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971800"/>
            <a:ext cx="23774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TCP for reliable, ordered delivery. UDP for fast, lightweight delivery when speed matters more than perfection.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21 2105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635"/>
            <a:ext cx="9149715" cy="5142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Screenshot 2026-09-21 2107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635"/>
            <a:ext cx="9143365" cy="5144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·  RESPONSIBILITIES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Five Core Jobs of the Transport Layer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6" name="Text 4"/>
          <p:cNvSpPr/>
          <p:nvPr/>
        </p:nvSpPr>
        <p:spPr>
          <a:xfrm>
            <a:off x="365760" y="1435608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Segmentation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7498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Large messages are broken into smaller pieces (segments) that travel efficiently across the network.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10" name="Text 8"/>
          <p:cNvSpPr/>
          <p:nvPr/>
        </p:nvSpPr>
        <p:spPr>
          <a:xfrm>
            <a:off x="365760" y="2121408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0116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Reassembly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286000"/>
            <a:ext cx="7498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 the destination, segments are put back together in the correct order so the app receives complete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14" name="Text 12"/>
          <p:cNvSpPr/>
          <p:nvPr/>
        </p:nvSpPr>
        <p:spPr>
          <a:xfrm>
            <a:off x="365760" y="2807208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6974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Error Control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7498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Checksums detect corruption. TCP can request retransmission of lost or damaged segments.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18" name="Text 16"/>
          <p:cNvSpPr/>
          <p:nvPr/>
        </p:nvSpPr>
        <p:spPr>
          <a:xfrm>
            <a:off x="365760" y="3493008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832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Flow Control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3657600"/>
            <a:ext cx="7498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Stops a fast sender from flooding a slow receiver. Uses a sliding window mechanism in TCP.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22" name="Text 20"/>
          <p:cNvSpPr/>
          <p:nvPr/>
        </p:nvSpPr>
        <p:spPr>
          <a:xfrm>
            <a:off x="365760" y="4178808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0690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Port Addressing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4343400"/>
            <a:ext cx="7498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Port numbers identify which application should receive the data (e.g. 80 for web, 443 for HTTPS).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·  TCP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TCP — Reliable, Connection-Oriented Delivery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TCP first creates a connection (like making a phone call), then carefully tracks every piece of data. If something is lost, it asks for it again.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01168" cy="201168"/>
          </a:xfrm>
          <a:prstGeom prst="ellipse">
            <a:avLst/>
          </a:prstGeom>
          <a:solidFill>
            <a:srgbClr val="38A169"/>
          </a:solidFill>
        </p:spPr>
      </p:sp>
      <p:sp>
        <p:nvSpPr>
          <p:cNvPr id="7" name="Text 5"/>
          <p:cNvSpPr/>
          <p:nvPr/>
        </p:nvSpPr>
        <p:spPr>
          <a:xfrm>
            <a:off x="822960" y="17830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Connection established before data is sent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01168" cy="201168"/>
          </a:xfrm>
          <a:prstGeom prst="ellipse">
            <a:avLst/>
          </a:prstGeom>
          <a:solidFill>
            <a:srgbClr val="38A169"/>
          </a:solidFill>
        </p:spPr>
      </p:sp>
      <p:sp>
        <p:nvSpPr>
          <p:cNvPr id="9" name="Text 7"/>
          <p:cNvSpPr/>
          <p:nvPr/>
        </p:nvSpPr>
        <p:spPr>
          <a:xfrm>
            <a:off x="822960" y="21945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Sequence numbers keep data in order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201168" cy="201168"/>
          </a:xfrm>
          <a:prstGeom prst="ellipse">
            <a:avLst/>
          </a:prstGeom>
          <a:solidFill>
            <a:srgbClr val="38A169"/>
          </a:solidFill>
        </p:spPr>
      </p:sp>
      <p:sp>
        <p:nvSpPr>
          <p:cNvPr id="11" name="Text 9"/>
          <p:cNvSpPr/>
          <p:nvPr/>
        </p:nvSpPr>
        <p:spPr>
          <a:xfrm>
            <a:off x="822960" y="260604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Acknowledgments confirm successful receipt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201168" cy="201168"/>
          </a:xfrm>
          <a:prstGeom prst="ellipse">
            <a:avLst/>
          </a:prstGeom>
          <a:solidFill>
            <a:srgbClr val="38A169"/>
          </a:solidFill>
        </p:spPr>
      </p:sp>
      <p:sp>
        <p:nvSpPr>
          <p:cNvPr id="13" name="Text 11"/>
          <p:cNvSpPr/>
          <p:nvPr/>
        </p:nvSpPr>
        <p:spPr>
          <a:xfrm>
            <a:off x="822960" y="301752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Lost segments are automatically retransmitted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201168" cy="201168"/>
          </a:xfrm>
          <a:prstGeom prst="ellipse">
            <a:avLst/>
          </a:prstGeom>
          <a:solidFill>
            <a:srgbClr val="38A169"/>
          </a:solidFill>
        </p:spPr>
      </p:sp>
      <p:sp>
        <p:nvSpPr>
          <p:cNvPr id="15" name="Text 13"/>
          <p:cNvSpPr/>
          <p:nvPr/>
        </p:nvSpPr>
        <p:spPr>
          <a:xfrm>
            <a:off x="822960" y="342900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Flow &amp; congestion control protect the network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1783080"/>
            <a:ext cx="3749040" cy="2926080"/>
          </a:xfrm>
          <a:prstGeom prst="roundRect">
            <a:avLst>
              <a:gd name="adj" fmla="val 3125"/>
            </a:avLst>
          </a:prstGeom>
          <a:solidFill>
            <a:srgbClr val="F7FAFC"/>
          </a:solidFill>
        </p:spPr>
      </p:sp>
      <p:sp>
        <p:nvSpPr>
          <p:cNvPr id="17" name="Text 15"/>
          <p:cNvSpPr/>
          <p:nvPr/>
        </p:nvSpPr>
        <p:spPr>
          <a:xfrm>
            <a:off x="5212080" y="192024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3-Way Handshake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2240280"/>
            <a:ext cx="3383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a TCP connection is created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2651760"/>
            <a:ext cx="365760" cy="365760"/>
          </a:xfrm>
          <a:prstGeom prst="ellipse">
            <a:avLst/>
          </a:prstGeom>
          <a:solidFill>
            <a:srgbClr val="2B6CB0"/>
          </a:solidFill>
        </p:spPr>
      </p:sp>
      <p:sp>
        <p:nvSpPr>
          <p:cNvPr id="20" name="Text 18"/>
          <p:cNvSpPr/>
          <p:nvPr/>
        </p:nvSpPr>
        <p:spPr>
          <a:xfrm>
            <a:off x="5303520" y="269748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2606040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0" y="28346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Client → Server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“I want to talk”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0" y="3291840"/>
            <a:ext cx="365760" cy="365760"/>
          </a:xfrm>
          <a:prstGeom prst="ellipse">
            <a:avLst/>
          </a:prstGeom>
          <a:solidFill>
            <a:srgbClr val="2B6CB0"/>
          </a:solidFill>
        </p:spPr>
      </p:sp>
      <p:sp>
        <p:nvSpPr>
          <p:cNvPr id="24" name="Text 22"/>
          <p:cNvSpPr/>
          <p:nvPr/>
        </p:nvSpPr>
        <p:spPr>
          <a:xfrm>
            <a:off x="5303520" y="33375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52160" y="3246120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SYN-ACK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0" y="34747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Server → Client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“OK, I’m ready”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03520" y="3931920"/>
            <a:ext cx="365760" cy="365760"/>
          </a:xfrm>
          <a:prstGeom prst="ellipse">
            <a:avLst/>
          </a:prstGeom>
          <a:solidFill>
            <a:srgbClr val="2B6CB0"/>
          </a:solidFill>
        </p:spPr>
      </p:sp>
      <p:sp>
        <p:nvSpPr>
          <p:cNvPr id="28" name="Text 26"/>
          <p:cNvSpPr/>
          <p:nvPr/>
        </p:nvSpPr>
        <p:spPr>
          <a:xfrm>
            <a:off x="5303520" y="397764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52160" y="3886200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0" y="41148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Client → Server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“Great, let’s start”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 ·  UDP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UDP — Fast and Lightweight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UDP does not create a connection and does not guarantee delivery. It simply sends the data and moves on. This makes it extremely fast and efficient.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7FAFC"/>
          </a:solidFill>
        </p:spPr>
      </p:sp>
      <p:sp>
        <p:nvSpPr>
          <p:cNvPr id="7" name="Shape 5"/>
          <p:cNvSpPr/>
          <p:nvPr/>
        </p:nvSpPr>
        <p:spPr>
          <a:xfrm>
            <a:off x="365760" y="1920240"/>
            <a:ext cx="2743200" cy="73152"/>
          </a:xfrm>
          <a:prstGeom prst="rect">
            <a:avLst/>
          </a:prstGeom>
          <a:solidFill>
            <a:srgbClr val="ED8936"/>
          </a:solidFill>
        </p:spPr>
      </p:sp>
      <p:sp>
        <p:nvSpPr>
          <p:cNvPr id="8" name="Text 6"/>
          <p:cNvSpPr/>
          <p:nvPr/>
        </p:nvSpPr>
        <p:spPr>
          <a:xfrm>
            <a:off x="548640" y="21488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Minimal Overhead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Only 8-byte header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No connection setup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No acknowledgments or retransmits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92024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7FAFC"/>
          </a:solidFill>
        </p:spPr>
      </p:sp>
      <p:sp>
        <p:nvSpPr>
          <p:cNvPr id="13" name="Shape 11"/>
          <p:cNvSpPr/>
          <p:nvPr/>
        </p:nvSpPr>
        <p:spPr>
          <a:xfrm>
            <a:off x="3246120" y="1920240"/>
            <a:ext cx="2743200" cy="73152"/>
          </a:xfrm>
          <a:prstGeom prst="rect">
            <a:avLst/>
          </a:prstGeom>
          <a:solidFill>
            <a:srgbClr val="ED8936"/>
          </a:solidFill>
        </p:spPr>
      </p:sp>
      <p:sp>
        <p:nvSpPr>
          <p:cNvPr id="14" name="Text 12"/>
          <p:cNvSpPr/>
          <p:nvPr/>
        </p:nvSpPr>
        <p:spPr>
          <a:xfrm>
            <a:off x="3429000" y="21488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Connectionless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65176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Fire-and-forget style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0632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Each datagram is independent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34747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No state kept at either 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7FAFC"/>
          </a:solidFill>
        </p:spPr>
      </p:sp>
      <p:sp>
        <p:nvSpPr>
          <p:cNvPr id="19" name="Shape 17"/>
          <p:cNvSpPr/>
          <p:nvPr/>
        </p:nvSpPr>
        <p:spPr>
          <a:xfrm>
            <a:off x="6126480" y="1920240"/>
            <a:ext cx="2743200" cy="73152"/>
          </a:xfrm>
          <a:prstGeom prst="rect">
            <a:avLst/>
          </a:prstGeom>
          <a:solidFill>
            <a:srgbClr val="ED8936"/>
          </a:solidFill>
        </p:spPr>
      </p:sp>
      <p:sp>
        <p:nvSpPr>
          <p:cNvPr id="20" name="Text 18"/>
          <p:cNvSpPr/>
          <p:nvPr/>
        </p:nvSpPr>
        <p:spPr>
          <a:xfrm>
            <a:off x="6309360" y="21488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For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65176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Live video &amp; audio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0632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Online multiplayer games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4747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DNS queries and VoIP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 ·  COMPARISON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When to use TCP and when to use UDP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E6FFFA"/>
          </a:solidFill>
        </p:spPr>
      </p:sp>
      <p:sp>
        <p:nvSpPr>
          <p:cNvPr id="6" name="Text 4"/>
          <p:cNvSpPr/>
          <p:nvPr/>
        </p:nvSpPr>
        <p:spPr>
          <a:xfrm>
            <a:off x="457200" y="141732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74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TCP — Complete &amp; Correct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Websites (HTTP/HTTPS)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part of the page must arrive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Email (Gmail, Outlook)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Messages must be complete &amp; ordered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File Downloads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missing byte can corrupt the file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Banking / Online Forms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11480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integrity is critical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AF0"/>
          </a:solidFill>
        </p:spPr>
      </p:sp>
      <p:sp>
        <p:nvSpPr>
          <p:cNvPr id="16" name="Text 14"/>
          <p:cNvSpPr/>
          <p:nvPr/>
        </p:nvSpPr>
        <p:spPr>
          <a:xfrm>
            <a:off x="4937760" y="141732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6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UDP — Speed First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3480" y="196596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Video (YouTube Live)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19456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short freeze is better than waiting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60604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Online Games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83464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action needs low delay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24612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Voice &amp; Video Calls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47472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Conversation continues if packets drop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88620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DNS Queries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411480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Quick questions need quick answers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7j0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" y="82550"/>
            <a:ext cx="9084310" cy="5133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  ·  PORTS &amp; MULTIPLEXING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many apps share one internet connection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Port numbers act like apartment numbers. The IP address gets data to the right computer; the port gets it to the right application.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</p:spPr>
      </p:sp>
      <p:sp>
        <p:nvSpPr>
          <p:cNvPr id="7" name="Shape 5"/>
          <p:cNvSpPr/>
          <p:nvPr/>
        </p:nvSpPr>
        <p:spPr>
          <a:xfrm>
            <a:off x="365760" y="1828800"/>
            <a:ext cx="2743200" cy="73152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8" name="Text 6"/>
          <p:cNvSpPr/>
          <p:nvPr/>
        </p:nvSpPr>
        <p:spPr>
          <a:xfrm>
            <a:off x="502920" y="205740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 – 1023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Well-Known Ports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4688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 (HTTP)  ·  443 (HTTPS)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 (SSH)  ·  53 (DNS)  ·  25 (SMTP)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8288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</p:spPr>
      </p:sp>
      <p:sp>
        <p:nvSpPr>
          <p:cNvPr id="12" name="Shape 10"/>
          <p:cNvSpPr/>
          <p:nvPr/>
        </p:nvSpPr>
        <p:spPr>
          <a:xfrm>
            <a:off x="3246120" y="1828800"/>
            <a:ext cx="2743200" cy="73152"/>
          </a:xfrm>
          <a:prstGeom prst="rect">
            <a:avLst/>
          </a:prstGeom>
          <a:solidFill>
            <a:srgbClr val="ED8936"/>
          </a:solidFill>
        </p:spPr>
      </p:sp>
      <p:sp>
        <p:nvSpPr>
          <p:cNvPr id="13" name="Text 11"/>
          <p:cNvSpPr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1024 – 49151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Registered Ports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2880360"/>
            <a:ext cx="24688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Used by applications and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vendor services after registration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</p:spPr>
      </p:sp>
      <p:sp>
        <p:nvSpPr>
          <p:cNvPr id="17" name="Shape 15"/>
          <p:cNvSpPr/>
          <p:nvPr/>
        </p:nvSpPr>
        <p:spPr>
          <a:xfrm>
            <a:off x="6126480" y="1828800"/>
            <a:ext cx="2743200" cy="73152"/>
          </a:xfrm>
          <a:prstGeom prst="rect">
            <a:avLst/>
          </a:prstGeom>
          <a:solidFill>
            <a:srgbClr val="38A169"/>
          </a:solidFill>
        </p:spPr>
      </p:sp>
      <p:sp>
        <p:nvSpPr>
          <p:cNvPr id="18" name="Text 16"/>
          <p:cNvSpPr/>
          <p:nvPr/>
        </p:nvSpPr>
        <p:spPr>
          <a:xfrm>
            <a:off x="6263640" y="205740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A1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49152 – 65535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3774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Dynamic / Ephemeral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2880360"/>
            <a:ext cx="24688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Temporary ports chosen by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client for outgoing connections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  ·  WHY IT MATTERS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Real-World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Without the Transport Layer, websites would break, emails would arrive incomplete, and video calls would be unusable.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7" name="Text 5"/>
          <p:cNvSpPr/>
          <p:nvPr/>
        </p:nvSpPr>
        <p:spPr>
          <a:xfrm>
            <a:off x="365760" y="1892808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Netflix / YouTube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178308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UDP (streaming)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07568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12" name="Text 10"/>
          <p:cNvSpPr/>
          <p:nvPr/>
        </p:nvSpPr>
        <p:spPr>
          <a:xfrm>
            <a:off x="365760" y="2624328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51460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Gmail / Outlook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25146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TCP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8072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email must arrive complete and in order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17" name="Text 15"/>
          <p:cNvSpPr/>
          <p:nvPr/>
        </p:nvSpPr>
        <p:spPr>
          <a:xfrm>
            <a:off x="365760" y="3355848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24612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Zoom / WhatsApp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32461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UDP (media)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5387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22" name="Text 20"/>
          <p:cNvSpPr/>
          <p:nvPr/>
        </p:nvSpPr>
        <p:spPr>
          <a:xfrm>
            <a:off x="365760" y="4087368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397764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 Browsing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0" y="39776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TCP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270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26" name="Picture 25"/>
          <p:cNvPicPr/>
          <p:nvPr/>
        </p:nvPicPr>
        <p:blipFill>
          <a:blip r:embed="rId1"/>
          <a:stretch>
            <a:fillRect/>
          </a:stretch>
        </p:blipFill>
        <p:spPr>
          <a:xfrm>
            <a:off x="6777355" y="1489710"/>
            <a:ext cx="1818005" cy="970915"/>
          </a:xfrm>
          <a:prstGeom prst="rect">
            <a:avLst/>
          </a:prstGeom>
        </p:spPr>
      </p:pic>
      <p:pic>
        <p:nvPicPr>
          <p:cNvPr id="27" name="Picture 26"/>
          <p:cNvPicPr/>
          <p:nvPr/>
        </p:nvPicPr>
        <p:blipFill>
          <a:blip r:embed="rId2"/>
          <a:stretch>
            <a:fillRect/>
          </a:stretch>
        </p:blipFill>
        <p:spPr>
          <a:xfrm>
            <a:off x="6884035" y="2377440"/>
            <a:ext cx="1013460" cy="789940"/>
          </a:xfrm>
          <a:prstGeom prst="rect">
            <a:avLst/>
          </a:prstGeom>
        </p:spPr>
      </p:pic>
      <p:pic>
        <p:nvPicPr>
          <p:cNvPr id="28" name="Picture 27"/>
          <p:cNvPicPr/>
          <p:nvPr/>
        </p:nvPicPr>
        <p:blipFill>
          <a:blip r:embed="rId3"/>
          <a:stretch>
            <a:fillRect/>
          </a:stretch>
        </p:blipFill>
        <p:spPr>
          <a:xfrm>
            <a:off x="6118225" y="3060065"/>
            <a:ext cx="2413000" cy="975995"/>
          </a:xfrm>
          <a:prstGeom prst="rect">
            <a:avLst/>
          </a:prstGeom>
        </p:spPr>
      </p:pic>
      <p:pic>
        <p:nvPicPr>
          <p:cNvPr id="29" name="Picture 28"/>
          <p:cNvPicPr/>
          <p:nvPr/>
        </p:nvPicPr>
        <p:blipFill>
          <a:blip r:embed="rId4"/>
          <a:stretch>
            <a:fillRect/>
          </a:stretch>
        </p:blipFill>
        <p:spPr>
          <a:xfrm>
            <a:off x="6565900" y="4087495"/>
            <a:ext cx="1128395" cy="8293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9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  · 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0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57200" cy="457200"/>
          </a:xfrm>
          <a:prstGeom prst="ellipse">
            <a:avLst/>
          </a:prstGeom>
          <a:solidFill>
            <a:srgbClr val="2B6CB0"/>
          </a:solidFill>
        </p:spPr>
      </p:sp>
      <p:sp>
        <p:nvSpPr>
          <p:cNvPr id="6" name="Text 4"/>
          <p:cNvSpPr/>
          <p:nvPr/>
        </p:nvSpPr>
        <p:spPr>
          <a:xfrm>
            <a:off x="411480" y="139903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7498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Layer 4 is the bridge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7498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connects the network world (IP packets) to the application world (your browser, email, Zoom).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457200" cy="457200"/>
          </a:xfrm>
          <a:prstGeom prst="ellipse">
            <a:avLst/>
          </a:prstGeom>
          <a:solidFill>
            <a:srgbClr val="2B6CB0"/>
          </a:solidFill>
        </p:spPr>
      </p:sp>
      <p:sp>
        <p:nvSpPr>
          <p:cNvPr id="10" name="Text 8"/>
          <p:cNvSpPr/>
          <p:nvPr/>
        </p:nvSpPr>
        <p:spPr>
          <a:xfrm>
            <a:off x="411480" y="208483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011680"/>
            <a:ext cx="7498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Five main jobs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7498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Segmentation, reassembly, error control, flow control, and port addressing.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697480"/>
            <a:ext cx="457200" cy="457200"/>
          </a:xfrm>
          <a:prstGeom prst="ellipse">
            <a:avLst/>
          </a:prstGeom>
          <a:solidFill>
            <a:srgbClr val="2B6CB0"/>
          </a:solidFill>
        </p:spPr>
      </p:sp>
      <p:sp>
        <p:nvSpPr>
          <p:cNvPr id="14" name="Text 12"/>
          <p:cNvSpPr/>
          <p:nvPr/>
        </p:nvSpPr>
        <p:spPr>
          <a:xfrm>
            <a:off x="411480" y="277063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697480"/>
            <a:ext cx="7498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TCP = Reliable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2971800"/>
            <a:ext cx="7498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Connection-oriented, ordered, with retransmission — perfect for web, email, and files.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457200" cy="457200"/>
          </a:xfrm>
          <a:prstGeom prst="ellipse">
            <a:avLst/>
          </a:prstGeom>
          <a:solidFill>
            <a:srgbClr val="2B6CB0"/>
          </a:solidFill>
        </p:spPr>
      </p:sp>
      <p:sp>
        <p:nvSpPr>
          <p:cNvPr id="18" name="Text 16"/>
          <p:cNvSpPr/>
          <p:nvPr/>
        </p:nvSpPr>
        <p:spPr>
          <a:xfrm>
            <a:off x="411480" y="345643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383280"/>
            <a:ext cx="7498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UDP = Fast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3657600"/>
            <a:ext cx="7498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Connectionless and lightweight — ideal for streaming, gaming, and real-time calls.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069080"/>
            <a:ext cx="457200" cy="457200"/>
          </a:xfrm>
          <a:prstGeom prst="ellipse">
            <a:avLst/>
          </a:prstGeom>
          <a:solidFill>
            <a:srgbClr val="2B6CB0"/>
          </a:solidFill>
        </p:spPr>
      </p:sp>
      <p:sp>
        <p:nvSpPr>
          <p:cNvPr id="22" name="Text 20"/>
          <p:cNvSpPr/>
          <p:nvPr/>
        </p:nvSpPr>
        <p:spPr>
          <a:xfrm>
            <a:off x="411480" y="414223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069080"/>
            <a:ext cx="7498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Choice matters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Modern services succeed because they pick the right transport protocol for the job.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4775" y="0"/>
            <a:ext cx="9144000" cy="5143500"/>
          </a:xfrm>
          <a:prstGeom prst="rect">
            <a:avLst/>
          </a:prstGeom>
          <a:solidFill>
            <a:srgbClr val="0F1B2D"/>
          </a:solidFill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GROUP 4  ·  CSC1101  ·  Uganda Christian University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4399</Words>
  <Application>WPS Presentation</Application>
  <PresentationFormat>On-screen Show (16:9)</PresentationFormat>
  <Paragraphs>272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Transport Layer - End-to-End Communication</dc:title>
  <dc:creator>Group 4 - CSC1101</dc:creator>
  <dc:subject>Computer Networks</dc:subject>
  <cp:lastModifiedBy>AMANYA AARON</cp:lastModifiedBy>
  <cp:revision>3</cp:revision>
  <dcterms:created xsi:type="dcterms:W3CDTF">2026-09-21T14:27:00Z</dcterms:created>
  <dcterms:modified xsi:type="dcterms:W3CDTF">2026-09-21T18:11:35Z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3702D35B48A64D3A896938B0B5F31B2A_13</vt:lpwstr>
  </property>
</Properties>
</file>